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2b1ab1642f4f27" /><Relationship Type="http://schemas.openxmlformats.org/officeDocument/2006/relationships/extended-properties" Target="/docProps/app.xml" Id="R4c27d543601b4736" /><Relationship Type="http://schemas.openxmlformats.org/officeDocument/2006/relationships/officeDocument" Target="/ppt/presentation.xml" Id="R8991ff0a91e74b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24c418f9b24372"/>
  </p:sldMasterIdLst>
  <p:notesMasterIdLst>
    <p:notesMasterId xmlns:r="http://schemas.openxmlformats.org/officeDocument/2006/relationships" r:id="R0e28ccf692a845d2"/>
  </p:notesMasterIdLst>
  <p:sldIdLst>
    <p:sldId xmlns:r="http://schemas.openxmlformats.org/officeDocument/2006/relationships" id="256" r:id="R06ab144d84e34b87"/>
    <p:sldId xmlns:r="http://schemas.openxmlformats.org/officeDocument/2006/relationships" id="257" r:id="R8b1100aee97b42cd"/>
    <p:sldId xmlns:r="http://schemas.openxmlformats.org/officeDocument/2006/relationships" id="258" r:id="R6b5535b545534a1f"/>
    <p:sldId xmlns:r="http://schemas.openxmlformats.org/officeDocument/2006/relationships" id="259" r:id="R9d826fe46c034973"/>
    <p:sldId xmlns:r="http://schemas.openxmlformats.org/officeDocument/2006/relationships" id="260" r:id="Rb79a48d5ea944c0c"/>
    <p:sldId xmlns:r="http://schemas.openxmlformats.org/officeDocument/2006/relationships" id="261" r:id="R39ecb0353ab6460c"/>
    <p:sldId xmlns:r="http://schemas.openxmlformats.org/officeDocument/2006/relationships" id="262" r:id="Rc5cb86928ef448d1"/>
    <p:sldId xmlns:r="http://schemas.openxmlformats.org/officeDocument/2006/relationships" id="263" r:id="R3903687f15a04c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672ef6a3f46cf" /><Relationship Type="http://schemas.openxmlformats.org/officeDocument/2006/relationships/slideMaster" Target="/ppt/slideMasters/slideMaster1.xml" Id="R5c24c418f9b24372" /><Relationship Type="http://schemas.openxmlformats.org/officeDocument/2006/relationships/notesMaster" Target="/ppt/notesMasters/notesMaster1.xml" Id="R0e28ccf692a845d2" /><Relationship Type="http://schemas.openxmlformats.org/officeDocument/2006/relationships/presProps" Target="/ppt/presProps.xml" Id="Ra1a239f6594243d3" /><Relationship Type="http://schemas.openxmlformats.org/officeDocument/2006/relationships/tableStyles" Target="/ppt/tableStyles.xml" Id="Rf682b236191a4754" /><Relationship Type="http://schemas.openxmlformats.org/officeDocument/2006/relationships/slide" Target="/ppt/slides/slide1.xml" Id="R06ab144d84e34b87" /><Relationship Type="http://schemas.openxmlformats.org/officeDocument/2006/relationships/slide" Target="/ppt/slides/slide2.xml" Id="R8b1100aee97b42cd" /><Relationship Type="http://schemas.openxmlformats.org/officeDocument/2006/relationships/slide" Target="/ppt/slides/slide3.xml" Id="R6b5535b545534a1f" /><Relationship Type="http://schemas.openxmlformats.org/officeDocument/2006/relationships/slide" Target="/ppt/slides/slide4.xml" Id="R9d826fe46c034973" /><Relationship Type="http://schemas.openxmlformats.org/officeDocument/2006/relationships/slide" Target="/ppt/slides/slide5.xml" Id="Rb79a48d5ea944c0c" /><Relationship Type="http://schemas.openxmlformats.org/officeDocument/2006/relationships/slide" Target="/ppt/slides/slide6.xml" Id="R39ecb0353ab6460c" /><Relationship Type="http://schemas.openxmlformats.org/officeDocument/2006/relationships/slide" Target="/ppt/slides/slide7.xml" Id="Rc5cb86928ef448d1" /><Relationship Type="http://schemas.openxmlformats.org/officeDocument/2006/relationships/slide" Target="/ppt/slides/slide8.xml" Id="R3903687f15a04c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d807785ebd48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7fb9ffa91e459a" /><Relationship Type="http://schemas.openxmlformats.org/officeDocument/2006/relationships/notesMaster" Target="/ppt/notesMasters/notesMaster1.xml" Id="R39e452a8f9d243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82ad21266641fe" /><Relationship Type="http://schemas.openxmlformats.org/officeDocument/2006/relationships/notesMaster" Target="/ppt/notesMasters/notesMaster1.xml" Id="R325b69773f5c47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0a35735a8648a4" /><Relationship Type="http://schemas.openxmlformats.org/officeDocument/2006/relationships/notesMaster" Target="/ppt/notesMasters/notesMaster1.xml" Id="R1e63cbc040ac41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744b524bda494e" /><Relationship Type="http://schemas.openxmlformats.org/officeDocument/2006/relationships/notesMaster" Target="/ppt/notesMasters/notesMaster1.xml" Id="Reaae01c8185549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18638863d94afb" /><Relationship Type="http://schemas.openxmlformats.org/officeDocument/2006/relationships/notesMaster" Target="/ppt/notesMasters/notesMaster1.xml" Id="Rdba9fbea050849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c3bc5b6b0b45f2" /><Relationship Type="http://schemas.openxmlformats.org/officeDocument/2006/relationships/notesMaster" Target="/ppt/notesMasters/notesMaster1.xml" Id="R17ef4a750c3e4c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6967723bcd40c4" /><Relationship Type="http://schemas.openxmlformats.org/officeDocument/2006/relationships/notesMaster" Target="/ppt/notesMasters/notesMaster1.xml" Id="Rbc650e788b6849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b709ffa04e459a" /><Relationship Type="http://schemas.openxmlformats.org/officeDocument/2006/relationships/notesMaster" Target="/ppt/notesMasters/notesMaster1.xml" Id="Rcc27fb4b8a934a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application materials,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system design and project requirements,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application screenshot, captured 2026-07-27 from http://192.168.0.233:18180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application screenshots, captured 2026-07-27 from http://192.168.0.233:18180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- 2025 WDQ SQL reference set and internal mapping policy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application screenshot, captured 2026-07-27 from http://192.168.0.233:18180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application screenshot, captured 2026-07-27 from http://192.168.0.233:18180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roadmap,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adff37ea244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63b56b2e384daf" /><Relationship Type="http://schemas.openxmlformats.org/officeDocument/2006/relationships/slideLayout" Target="/ppt/slideLayouts/slideLayout1.xml" Id="R68fee9384b1146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fee9384b1146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56d6c6d304c63" /><Relationship Type="http://schemas.openxmlformats.org/officeDocument/2006/relationships/notesSlide" Target="/ppt/notesSlides/notesSlide1.xml" Id="R5db3ed8e971247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dd8acfbc94023" /><Relationship Type="http://schemas.openxmlformats.org/officeDocument/2006/relationships/notesSlide" Target="/ppt/notesSlides/notesSlide2.xml" Id="Rcc70e27d0a8444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0d9e323cc4c15" /><Relationship Type="http://schemas.openxmlformats.org/officeDocument/2006/relationships/image" Target="/ppt/media/image.jpeg" Id="R13e72f48130144cd" /><Relationship Type="http://schemas.openxmlformats.org/officeDocument/2006/relationships/notesSlide" Target="/ppt/notesSlides/notesSlide3.xml" Id="Rb902cded1fcd4c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73d3410c940e9" /><Relationship Type="http://schemas.openxmlformats.org/officeDocument/2006/relationships/image" Target="/ppt/media/image2.jpeg" Id="Rdb2e79d12b154ab5" /><Relationship Type="http://schemas.openxmlformats.org/officeDocument/2006/relationships/image" Target="/ppt/media/image3.jpeg" Id="R5e96ebe09fb242bd" /><Relationship Type="http://schemas.openxmlformats.org/officeDocument/2006/relationships/notesSlide" Target="/ppt/notesSlides/notesSlide4.xml" Id="Rdf580da89396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b4f71a83b4ac1" /><Relationship Type="http://schemas.openxmlformats.org/officeDocument/2006/relationships/notesSlide" Target="/ppt/notesSlides/notesSlide5.xml" Id="R2fae98bb9d014f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9f98ee654826" /><Relationship Type="http://schemas.openxmlformats.org/officeDocument/2006/relationships/image" Target="/ppt/media/image4.jpeg" Id="Ra87f559329f742c4" /><Relationship Type="http://schemas.openxmlformats.org/officeDocument/2006/relationships/notesSlide" Target="/ppt/notesSlides/notesSlide6.xml" Id="Reee0ff49b85f4a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b02ffa30d49a4" /><Relationship Type="http://schemas.openxmlformats.org/officeDocument/2006/relationships/image" Target="/ppt/media/image.png" Id="Rd70c541d390544fe" /><Relationship Type="http://schemas.openxmlformats.org/officeDocument/2006/relationships/notesSlide" Target="/ppt/notesSlides/notesSlide7.xml" Id="Rf817757663a74c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91173c46d4dc1" /><Relationship Type="http://schemas.openxmlformats.org/officeDocument/2006/relationships/notesSlide" Target="/ppt/notesSlides/notesSlide8.xml" Id="Rf764d06fcdae4a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6FE3BE-4F89-4CBF-94E7-0B8E88EC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8"/>
          </a:solidFill>
          <a:ln xmlns:a="http://schemas.openxmlformats.org/drawingml/2006/main" w="0">
            <a:solidFill>
              <a:srgbClr val="147A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BE4E6-E45E-4EBC-B4BF-7F322C37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A2F7B-78A2-4FE5-A941-BA174895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WDQ 9.0 · 9.1 · 9.2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91C21-DA09-4B34-802F-3C886502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31D"/>
                </a:solidFill>
              </a:defRPr>
            </a:pPr>
            <a:r>
              <a:rPr sz="3900" b="1">
                <a:solidFill>
                  <a:srgbClr val="10231D"/>
                </a:solidFill>
              </a:rPr>
              <a:t>공통표준</a:t>
            </a:r>
          </a:p>
          <a:p xmlns:a="http://schemas.openxmlformats.org/drawingml/2006/main">
            <a:pPr algn="l">
              <a:defRPr sz="3900" b="1">
                <a:solidFill>
                  <a:srgbClr val="10231D"/>
                </a:solidFill>
              </a:defRPr>
            </a:pPr>
            <a:r>
              <a:rPr sz="3900" b="1">
                <a:solidFill>
                  <a:srgbClr val="10231D"/>
                </a:solidFill>
              </a:rPr>
              <a:t>진단기준 생성기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3AD69-05E8-4EF7-B28D-A985055E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E"/>
                </a:solidFill>
              </a:defRPr>
            </a:pPr>
            <a:r>
              <a:rPr sz="1800" b="0">
                <a:solidFill>
                  <a:srgbClr val="66736E"/>
                </a:solidFill>
              </a:rPr>
              <a:t>결과보고서·진단기준에서</a:t>
            </a:r>
          </a:p>
          <a:p xmlns:a="http://schemas.openxmlformats.org/drawingml/2006/main">
            <a:pPr algn="l">
              <a:defRPr sz="1800" b="0">
                <a:solidFill>
                  <a:srgbClr val="66736E"/>
                </a:solidFill>
              </a:defRPr>
            </a:pPr>
            <a:r>
              <a:rPr sz="1800" b="0">
                <a:solidFill>
                  <a:srgbClr val="66736E"/>
                </a:solidFill>
              </a:rPr>
              <a:t>2025 형식 SQL과 실행 EXE까지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AA413-F1BA-4246-A0C5-A6BB025C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"/>
            <a:ext cx="4191000" cy="4953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E805C-D6E7-4F73-A488-18E0528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81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A58"/>
                </a:solidFill>
              </a:defRPr>
            </a:pPr>
            <a:r>
              <a:rPr sz="1125" b="1">
                <a:solidFill>
                  <a:srgbClr val="147A58"/>
                </a:solidFill>
              </a:rPr>
              <a:t>SYSTEM →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1A0C9-A3A6-4804-8B1A-6CC78E7B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098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EB277-BCD1-4F8A-805C-5F087C37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2DBFD-A444-4B9F-B5E7-5ABFC0AF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430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AC891-212D-4AA7-86F2-1108E7F4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시스템·채번 정책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DE1CB-C266-471C-B674-8D31DDAE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21AC6-20F5-4A02-99D5-2D95F158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33943-0711-481E-8544-50E7ED04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D93E9-ED62-442C-A6CF-9606FF57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두 트랙 업로드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06C48-E730-44D8-95C7-311788B8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4BC2A-0B15-479F-B14D-0517C3D0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8584A-87C6-4DB6-A04A-822DE24B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95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3EBDE-AE2A-4EF4-9157-D0459750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유효성 검토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5FCCF-AB8E-4927-9341-7AB1AC95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434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F213B-9D11-4EAA-B041-C5CFEE72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719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1D2C6-957F-46C6-9B66-BF0F68B1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SQL·EXE 생성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BDB74-F966-4A3C-8D79-C6384299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8"/>
                </a:solidFill>
              </a:defRPr>
            </a:pPr>
            <a:r>
              <a:rPr sz="1050" b="1">
                <a:solidFill>
                  <a:srgbClr val="147A58"/>
                </a:solidFill>
              </a:rPr>
              <a:t>개발·운영 소개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9A3EF-BAC7-4877-890F-62E9148D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57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2026.07.27</a:t>
            </a:r>
          </a:p>
        </p:txBody>
      </p:sp>
    </p:spTree>
    <p:extLst>
      <p:ext uri="{BB962C8B-B14F-4D97-AF65-F5344CB8AC3E}">
        <p14:creationId xmlns:p14="http://schemas.microsoft.com/office/powerpoint/2010/main" val="1699984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A7455E-330D-4966-A33F-83FFD109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E5289-72C7-40D5-9EEA-B0B45B29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160E3-6EC6-4DE8-A05D-3EE9523F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D"/>
                </a:solidFill>
              </a:defRPr>
            </a:pPr>
            <a:r>
              <a:rPr sz="2250" b="1">
                <a:solidFill>
                  <a:srgbClr val="10231D"/>
                </a:solidFill>
              </a:rPr>
              <a:t>한 시스템 아래에서 전 과정이 이어집니다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38066-0288-4D42-867A-D5E2CF06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</a:defRPr>
            </a:pPr>
            <a:r>
              <a:rPr sz="1125" b="0">
                <a:solidFill>
                  <a:srgbClr val="66736E"/>
                </a:solidFill>
              </a:rPr>
              <a:t>페이지를 이동해도 프로젝트 키와 등록 정보가 유지되는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106EC-E0FB-498F-B3F5-C3A2CA4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  <a:ln xmlns:a="http://schemas.openxmlformats.org/drawingml/2006/main" w="0">
            <a:solidFill>
              <a:srgbClr val="DCE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DE1A2-5649-428B-807F-83832AE1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52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A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AEA55-99A5-41B9-A107-F68CEFC8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A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AA765-84ED-48F2-AFB8-A5D86F63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A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F18AF-BC5A-412C-949C-F817DBE2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A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45D8D-C80A-46D3-9EBA-62418CE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809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24B6A-9829-4444-A5CF-06E2A040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6B0BD-DA48-4072-B319-FDACC536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78142-5194-436C-99DA-0A16FF09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공통표준 시스템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D97D9-523F-4AE8-964F-7D82900D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DBMS · 스키마 · prefix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F5021-7D17-4926-95B9-1307A66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9800"/>
            <a:ext cx="1809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FF642-8088-4F41-B60D-F9B71E8C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0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957D0-28B7-49C1-AACF-6FF0A068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288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E2DCC-ADDB-4752-937E-3192A176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765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프로젝트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0D8CA-FC8E-43C8-9601-BB3EA046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연도 · 배포월 · 버전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4E6CD-C033-4B8A-B07D-9EE59147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2857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C691D-37ED-41AA-AF1B-3BABDEA3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42A9A-CA2D-4B1B-9415-DB703AC7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288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603D4-F3E2-45AC-A31B-F146FB9A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765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두 입력 트랙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5B60B-9BA7-4CCB-9DEB-8361063B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766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결과보고서  |  진단기준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4C25DB-89C6-43B5-A856-CF9B2A8A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1428750" cy="14859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DDDCE-3DD8-491E-84B1-1DAB516C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89D28-2312-49BB-93F7-AE86E09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288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BEE2D-6176-45DF-8628-C4C55D6F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검토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18D13-0BB6-4525-B8A5-8227711D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766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충돌 · 누락 · DDL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1159C8-D8DF-4647-BCCA-D5CB8AC2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314450" cy="14859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8A698-A637-4336-A96C-3D884698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0030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F501E2-321A-42EB-97F3-C658CD50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288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F28AEE-2FA2-4AAD-98DE-D12C58C5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765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산출물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02E207-3A46-4BF3-800C-FA851F37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7660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SQL · EXE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007377-E232-48A7-AB86-B1DA9A28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B8A311-1B9D-47C4-91F4-CBC0ECAA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58"/>
                </a:solidFill>
              </a:defRPr>
            </a:pPr>
            <a:r>
              <a:rPr sz="1350" b="1">
                <a:solidFill>
                  <a:srgbClr val="147A58"/>
                </a:solidFill>
              </a:rPr>
              <a:t>핵심 원칙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550296-D71E-49DF-97EF-A4714E57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A58"/>
                </a:solidFill>
              </a:defRPr>
            </a:pPr>
            <a:r>
              <a:rPr sz="1650" b="1">
                <a:solidFill>
                  <a:srgbClr val="147A58"/>
                </a:solidFill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633E48-D4ED-4406-B2D3-89CCE82A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3865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</a:defRPr>
            </a:pPr>
            <a:r>
              <a:rPr sz="1350" b="0">
                <a:solidFill>
                  <a:srgbClr val="10231D"/>
                </a:solidFill>
              </a:rPr>
              <a:t>결과보고서와 진단기준은 같은 프로젝트에 누적·병합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56BD62-FDCF-42C1-8F42-C4933C15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A58"/>
                </a:solidFill>
              </a:defRPr>
            </a:pPr>
            <a:r>
              <a:rPr sz="1650" b="1">
                <a:solidFill>
                  <a:srgbClr val="147A58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C30A15-5976-4439-A31F-3409E3D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3865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</a:defRPr>
            </a:pPr>
            <a:r>
              <a:rPr sz="1350" b="0">
                <a:solidFill>
                  <a:srgbClr val="10231D"/>
                </a:solidFill>
              </a:rPr>
              <a:t>2025 SQL 구조는 생성 과정이 바뀌어도 유지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345C72-983C-4955-85B5-6FCD2F4E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A58"/>
                </a:solidFill>
              </a:defRPr>
            </a:pPr>
            <a:r>
              <a:rPr sz="1650" b="1">
                <a:solidFill>
                  <a:srgbClr val="147A58"/>
                </a:solidFill>
              </a:rPr>
              <a:t>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F5DCFF-9211-4EFF-866C-9859F9BF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00625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</a:defRPr>
            </a:pPr>
            <a:r>
              <a:rPr sz="1350" b="0">
                <a:solidFill>
                  <a:srgbClr val="10231D"/>
                </a:solidFill>
              </a:rPr>
              <a:t>수정 → 재검증 → 재추출 → 재생성 흐름 지원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279154-B9D9-4ACD-9F53-B99EE36C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A58"/>
                </a:solidFill>
              </a:defRPr>
            </a:pPr>
            <a:r>
              <a:rPr sz="1650" b="1">
                <a:solidFill>
                  <a:srgbClr val="147A58"/>
                </a:solidFill>
              </a:rPr>
              <a:t>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46D339-A0BB-4029-8133-ED605F9D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00625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1D"/>
                </a:solidFill>
              </a:defRPr>
            </a:pPr>
            <a:r>
              <a:rPr sz="1350" b="0">
                <a:solidFill>
                  <a:srgbClr val="10231D"/>
                </a:solidFill>
              </a:rPr>
              <a:t>기본룰은 참조하고 추가룰만 신규 채번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BA346F-D422-49B8-967E-B2BED9EE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</a:defRPr>
            </a:pPr>
            <a:r>
              <a:rPr sz="750" b="0">
                <a:solidFill>
                  <a:srgbClr val="66736E"/>
                </a:solidFill>
              </a:rPr>
              <a:t>SYSTEM ARCHITECTURE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149A18-4728-4767-82A9-A7DF3848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8652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36E"/>
                </a:solidFill>
              </a:defRPr>
            </a:pPr>
            <a:r>
              <a:rPr sz="750" b="1">
                <a:solidFill>
                  <a:srgbClr val="66736E"/>
                </a:solidFill>
              </a:rPr>
              <a:t>COMMON STANDARD BUILDER</a:t>
            </a:r>
          </a:p>
        </p:txBody>
      </p:sp>
    </p:spTree>
    <p:extLst>
      <p:ext uri="{BB962C8B-B14F-4D97-AF65-F5344CB8AC3E}">
        <p14:creationId xmlns:p14="http://schemas.microsoft.com/office/powerpoint/2010/main" val="786272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07A83-C60F-49CB-8B03-58243453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2FE71-FE54-4DD6-A34A-52A93C7D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35FC6-8B2D-4AC5-8AE6-59285BB8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D"/>
                </a:solidFill>
              </a:defRPr>
            </a:pPr>
            <a:r>
              <a:rPr sz="2250" b="1">
                <a:solidFill>
                  <a:srgbClr val="10231D"/>
                </a:solidFill>
              </a:rPr>
              <a:t>시스템을 먼저 등록하고, 프로젝트를 그 아래에서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17422-95FC-4330-9C52-873B2583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</a:defRPr>
            </a:pPr>
            <a:r>
              <a:rPr sz="1125" b="0">
                <a:solidFill>
                  <a:srgbClr val="66736E"/>
                </a:solidFill>
              </a:rPr>
              <a:t>공통표준 시스템은 기관별 복제가 아닌 최상위 단일 관리 단위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8C548-7DC9-483F-85FE-958E749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  <a:ln xmlns:a="http://schemas.openxmlformats.org/drawingml/2006/main" w="0">
            <a:solidFill>
              <a:srgbClr val="DCE5E1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72f48130144cd"/>
          <a:srcRect xmlns:a="http://schemas.openxmlformats.org/drawingml/2006/main" l="5498" t="0" r="54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714375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90D22-4B15-4D96-991B-64C6AEEF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524250" cy="45148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82A3F-67C3-49CB-A21F-8E1CD88E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14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D"/>
                </a:solidFill>
              </a:defRPr>
            </a:pPr>
            <a:r>
              <a:rPr sz="1650" b="1">
                <a:solidFill>
                  <a:srgbClr val="10231D"/>
                </a:solidFill>
              </a:rPr>
              <a:t>등록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349C0-8DDF-4D4D-985A-3C003853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8"/>
                </a:solidFill>
              </a:defRPr>
            </a:pPr>
            <a:r>
              <a:rPr sz="1050" b="1">
                <a:solidFill>
                  <a:srgbClr val="147A58"/>
                </a:solidFill>
              </a:rPr>
              <a:t>시스템 코드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5D334-E807-43DB-AC1A-FAFCEEF3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중복 없는 식별자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B5871-2BC8-49FD-B48D-3FFA86A2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9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8"/>
                </a:solidFill>
              </a:defRPr>
            </a:pPr>
            <a:r>
              <a:rPr sz="1050" b="1">
                <a:solidFill>
                  <a:srgbClr val="147A58"/>
                </a:solidFill>
              </a:rPr>
              <a:t>시스템명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314FE-FC02-4C3D-AA3E-A1F92628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화면·산출물 표시명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3E882-2F44-4100-9481-E3BDF1E9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52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8"/>
                </a:solidFill>
              </a:defRPr>
            </a:pPr>
            <a:r>
              <a:rPr sz="1050" b="1">
                <a:solidFill>
                  <a:srgbClr val="147A58"/>
                </a:solidFill>
              </a:rPr>
              <a:t>DBMS 유형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646AE-A973-4F97-9CF7-AE31F950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ORA · MRA 등 코드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20386-9E92-48BC-BAD3-E423DF5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957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8"/>
                </a:solidFill>
              </a:defRPr>
            </a:pPr>
            <a:r>
              <a:rPr sz="1050" b="1">
                <a:solidFill>
                  <a:srgbClr val="147A58"/>
                </a:solidFill>
              </a:rPr>
              <a:t>기본 스키마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CEB02-4839-4A24-8D5C-20B3A29A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957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SQL 생성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30A66-E96E-49A2-9A0A-9531488B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8"/>
                </a:solidFill>
              </a:defRPr>
            </a:pPr>
            <a:r>
              <a:rPr sz="1050" b="1">
                <a:solidFill>
                  <a:srgbClr val="147A58"/>
                </a:solidFill>
              </a:rPr>
              <a:t>채번 영역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C8AFC-A071-4648-A440-6C911628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386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STNDEXP_7… 범위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07CA9-DC7C-4F3A-B7A4-A13DBBC0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815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8"/>
                </a:solidFill>
              </a:defRPr>
            </a:pPr>
            <a:r>
              <a:rPr sz="1050" b="1">
                <a:solidFill>
                  <a:srgbClr val="147A58"/>
                </a:solidFill>
              </a:rPr>
              <a:t>공통 prefix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1B58D-5FAE-48FA-8BBC-32E91B85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815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</a:defRPr>
            </a:pPr>
            <a:r>
              <a:rPr sz="1050" b="0">
                <a:solidFill>
                  <a:srgbClr val="66736E"/>
                </a:solidFill>
              </a:rPr>
              <a:t>룰·업무규칙·제외사유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A8550-B2EC-4C7B-9A73-59135D99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</a:defRPr>
            </a:pPr>
            <a:r>
              <a:rPr sz="750" b="0">
                <a:solidFill>
                  <a:srgbClr val="66736E"/>
                </a:solidFill>
              </a:rPr>
              <a:t>SYSTEM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5272A-1A3A-4E37-8F82-831B234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8652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36E"/>
                </a:solidFill>
              </a:defRPr>
            </a:pPr>
            <a:r>
              <a:rPr sz="750" b="1">
                <a:solidFill>
                  <a:srgbClr val="66736E"/>
                </a:solidFill>
              </a:rPr>
              <a:t>COMMON STANDARD BUILDER</a:t>
            </a:r>
          </a:p>
        </p:txBody>
      </p:sp>
    </p:spTree>
    <p:extLst>
      <p:ext uri="{BB962C8B-B14F-4D97-AF65-F5344CB8AC3E}">
        <p14:creationId xmlns:p14="http://schemas.microsoft.com/office/powerpoint/2010/main" val="1102110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61125-30AC-46E9-9D64-F6CF2D6F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3DB80-8D6F-4721-BAFF-66E0A84F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864AE-224F-43AD-B5FF-F48170A2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D"/>
                </a:solidFill>
              </a:defRPr>
            </a:pPr>
            <a:r>
              <a:rPr sz="2250" b="1">
                <a:solidFill>
                  <a:srgbClr val="10231D"/>
                </a:solidFill>
              </a:rPr>
              <a:t>입력 방식은 분리하고, 결과는 한 프로젝트로 합칩니다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0D52D-EDBB-49F1-A1B2-2BB63FF7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</a:defRPr>
            </a:pPr>
            <a:r>
              <a:rPr sz="1125" b="0">
                <a:solidFill>
                  <a:srgbClr val="66736E"/>
                </a:solidFill>
              </a:rPr>
              <a:t>유지보수 결과보고서 추출과 독립 진단기준 등록은 처리 목적이 다름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290AC-C8FD-4A78-BB03-26CD132A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  <a:ln xmlns:a="http://schemas.openxmlformats.org/drawingml/2006/main" w="0">
            <a:solidFill>
              <a:srgbClr val="DCE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420AF-30F1-45E2-8E98-4E7A089D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197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00816-3B98-4140-AFC4-259A0AE2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70A73-BE3E-45E0-975D-BB8155A8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TRACK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8D3D3-7DBD-47DD-9609-07D2AD2F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D"/>
                </a:solidFill>
              </a:defRPr>
            </a:pPr>
            <a:r>
              <a:rPr sz="1800" b="1">
                <a:solidFill>
                  <a:srgbClr val="10231D"/>
                </a:solidFill>
              </a:rPr>
              <a:t>결과보고서 업로드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8914C-E16D-4961-9EA9-5E86ED27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</a:defRPr>
            </a:pPr>
            <a:r>
              <a:rPr sz="1125" b="0">
                <a:solidFill>
                  <a:srgbClr val="66736E"/>
                </a:solidFill>
              </a:rPr>
              <a:t>워크북에서 시스템 문맥·추가 검증룰·업무규칙·제외대상을 추출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e79d12b154ab5"/>
          <a:srcRect xmlns:a="http://schemas.openxmlformats.org/drawingml/2006/main" l="0" t="222" r="0" b="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105150"/>
            <a:ext cx="47625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3E2AD-B274-4EC1-BA3F-A15DC3A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55245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F5F6C-DB24-46BD-80C7-E88C191A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EDF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DD734-D69A-4510-B1F3-8C393F7F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TRACK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3E092-D60C-4914-AB75-401CAB29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D"/>
                </a:solidFill>
              </a:defRPr>
            </a:pPr>
            <a:r>
              <a:rPr sz="1800" b="1">
                <a:solidFill>
                  <a:srgbClr val="10231D"/>
                </a:solidFill>
              </a:rPr>
              <a:t>진단기준 직접 등록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E7433-FCEB-4A48-90CD-0D430CF0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</a:defRPr>
            </a:pPr>
            <a:r>
              <a:rPr sz="1125" b="0">
                <a:solidFill>
                  <a:srgbClr val="66736E"/>
                </a:solidFill>
              </a:rPr>
              <a:t>유형별 여러 파일을 올리고 파일명·건수·성공/충돌 상태를 추적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6ebe09fb242bd"/>
          <a:srcRect xmlns:a="http://schemas.openxmlformats.org/drawingml/2006/main" l="0" t="16135" r="0" b="16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105150"/>
            <a:ext cx="50673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53FCB-6E5C-4B25-973D-853F6EEA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</a:defRPr>
            </a:pPr>
            <a:r>
              <a:rPr sz="750" b="0">
                <a:solidFill>
                  <a:srgbClr val="66736E"/>
                </a:solidFill>
              </a:rPr>
              <a:t>TWO-TRACK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9B37C8-DE3B-48F4-A554-FC0910C3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8652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36E"/>
                </a:solidFill>
              </a:defRPr>
            </a:pPr>
            <a:r>
              <a:rPr sz="750" b="1">
                <a:solidFill>
                  <a:srgbClr val="66736E"/>
                </a:solidFill>
              </a:rPr>
              <a:t>COMMON STANDARD BUILDER</a:t>
            </a:r>
          </a:p>
        </p:txBody>
      </p:sp>
    </p:spTree>
    <p:extLst>
      <p:ext uri="{BB962C8B-B14F-4D97-AF65-F5344CB8AC3E}">
        <p14:creationId xmlns:p14="http://schemas.microsoft.com/office/powerpoint/2010/main" val="2059259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4CCDBB-6C6E-46D5-92E7-11068C21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54714-1906-4ADC-B9DC-CB811359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AC342-8E2E-45F4-916D-81FFE76A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D"/>
                </a:solidFill>
              </a:defRPr>
            </a:pPr>
            <a:r>
              <a:rPr sz="2250" b="1">
                <a:solidFill>
                  <a:srgbClr val="10231D"/>
                </a:solidFill>
              </a:rPr>
              <a:t>2025 SQL과 같은 폼을 지키는 생성 정책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561EC-02A2-4B20-971B-E4EDDBE9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</a:defRPr>
            </a:pPr>
            <a:r>
              <a:rPr sz="1125" b="0">
                <a:solidFill>
                  <a:srgbClr val="66736E"/>
                </a:solidFill>
              </a:rPr>
              <a:t>WDQ 기본 ID를 재사용하고, 새 규칙만 프로젝트 정책으로 채번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04C83-063A-48CE-95A9-1984D36A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  <a:ln xmlns:a="http://schemas.openxmlformats.org/drawingml/2006/main" w="0">
            <a:solidFill>
              <a:srgbClr val="DCE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9AF89-A9FB-4694-8DAE-A768D975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495550" cy="31432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132F9-DECB-436B-82C0-D08F79B0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1D1B3-31CF-4909-9607-EEE6A0A2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STAT_ · VRF1_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1D1FC-1895-4176-AFCC-FA4BCC9C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D"/>
                </a:solidFill>
              </a:defRPr>
            </a:pPr>
            <a:r>
              <a:rPr sz="1725" b="1">
                <a:solidFill>
                  <a:srgbClr val="10231D"/>
                </a:solidFill>
              </a:rPr>
              <a:t>기본 검증룰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4CE35-E689-4206-A3C4-9B3DC2F4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</a:defRPr>
            </a:pPr>
            <a:r>
              <a:rPr sz="1275" b="0">
                <a:solidFill>
                  <a:srgbClr val="66736E"/>
                </a:solidFill>
              </a:rPr>
              <a:t>이름으로 카탈로그 매핑</a:t>
            </a:r>
          </a:p>
          <a:p xmlns:a="http://schemas.openxmlformats.org/drawingml/2006/main">
            <a:pPr algn="l">
              <a:defRPr sz="1275" b="0">
                <a:solidFill>
                  <a:srgbClr val="66736E"/>
                </a:solidFill>
              </a:defRPr>
            </a:pPr>
            <a:r>
              <a:rPr sz="1275" b="0">
                <a:solidFill>
                  <a:srgbClr val="66736E"/>
                </a:solidFill>
              </a:rPr>
              <a:t>신규 INSERT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61B15-BF41-410E-AA67-6A3783AA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8"/>
          </a:solidFill>
          <a:ln xmlns:a="http://schemas.openxmlformats.org/drawingml/2006/main" w="0">
            <a:solidFill>
              <a:srgbClr val="147A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34D4F-3532-4146-B4F3-94C5277C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62100"/>
            <a:ext cx="2495550" cy="31432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3A9B9-EABC-4379-9E14-441D2FC4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907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EDF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F95E6-B851-4C21-B08C-2B19DEF3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192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STNDRULE_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5F7E1-334A-4F3F-B7FA-86B8FA4A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D"/>
                </a:solidFill>
              </a:defRPr>
            </a:pPr>
            <a:r>
              <a:rPr sz="1725" b="1">
                <a:solidFill>
                  <a:srgbClr val="10231D"/>
                </a:solidFill>
              </a:rPr>
              <a:t>추가 검증룰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04765-51A8-4909-85FC-1EAB1693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</a:defRPr>
            </a:pPr>
            <a:r>
              <a:rPr sz="1275" b="0">
                <a:solidFill>
                  <a:srgbClr val="66736E"/>
                </a:solidFill>
              </a:rPr>
              <a:t>공통 prefix 적용</a:t>
            </a:r>
          </a:p>
          <a:p xmlns:a="http://schemas.openxmlformats.org/drawingml/2006/main">
            <a:pPr algn="l">
              <a:defRPr sz="1275" b="0">
                <a:solidFill>
                  <a:srgbClr val="66736E"/>
                </a:solidFill>
              </a:defRPr>
            </a:pPr>
            <a:r>
              <a:rPr sz="1275" b="0">
                <a:solidFill>
                  <a:srgbClr val="66736E"/>
                </a:solidFill>
              </a:rPr>
              <a:t>WAM_DQI 품질지표 매핑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391C1-8560-44D2-9BDB-F868509C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9113B-31D1-4969-9F8D-1A1E552D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62100"/>
            <a:ext cx="2495550" cy="31432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C2AAF-C6D0-4E49-AB65-054B434B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FFF6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179A17-435F-4201-B7A2-34B39642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192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C6100"/>
                </a:solidFill>
              </a:defRPr>
            </a:pPr>
            <a:r>
              <a:rPr sz="900" b="1">
                <a:solidFill>
                  <a:srgbClr val="8C6100"/>
                </a:solidFill>
              </a:rPr>
              <a:t>CC · LC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45D44-BA8A-483A-BFEA-1E1EC926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D"/>
                </a:solidFill>
              </a:defRPr>
            </a:pPr>
            <a:r>
              <a:rPr sz="1725" b="1">
                <a:solidFill>
                  <a:srgbClr val="10231D"/>
                </a:solidFill>
              </a:rPr>
              <a:t>코드 규칙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85E6B5-2264-45D1-B426-6BF288F3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</a:defRPr>
            </a:pPr>
            <a:r>
              <a:rPr sz="1275" b="0">
                <a:solidFill>
                  <a:srgbClr val="66736E"/>
                </a:solidFill>
              </a:rPr>
              <a:t>WAA_CD_RULE</a:t>
            </a:r>
          </a:p>
          <a:p xmlns:a="http://schemas.openxmlformats.org/drawingml/2006/main">
            <a:pPr algn="l">
              <a:defRPr sz="1275" b="0">
                <a:solidFill>
                  <a:srgbClr val="66736E"/>
                </a:solidFill>
              </a:defRPr>
            </a:pPr>
            <a:r>
              <a:rPr sz="1275" b="0">
                <a:solidFill>
                  <a:srgbClr val="66736E"/>
                </a:solidFill>
              </a:rPr>
              <a:t>WAA_CD_LIST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6A626-34EA-4F73-A88E-524D023C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100"/>
          </a:solidFill>
          <a:ln xmlns:a="http://schemas.openxmlformats.org/drawingml/2006/main" w="0">
            <a:solidFill>
              <a:srgbClr val="8C61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3108F-AE38-4784-8453-646FCD54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62100"/>
            <a:ext cx="2495550" cy="31432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BDD3D-20DF-43EB-BCB4-2B841DCA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9525">
            <a:solidFill>
              <a:srgbClr val="FDEE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3EFAA2-2A88-4CCA-92F6-1C378C18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192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4D4D"/>
                </a:solidFill>
              </a:defRPr>
            </a:pPr>
            <a:r>
              <a:rPr sz="900" b="1">
                <a:solidFill>
                  <a:srgbClr val="C94D4D"/>
                </a:solidFill>
              </a:rPr>
              <a:t>TBL · COL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93B6E-A88C-4962-B389-CC8C2763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D"/>
                </a:solidFill>
              </a:defRPr>
            </a:pPr>
            <a:r>
              <a:rPr sz="1725" b="1">
                <a:solidFill>
                  <a:srgbClr val="10231D"/>
                </a:solidFill>
              </a:rPr>
              <a:t>제외 기준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73F99-5B56-479A-8BB8-D3C430C4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</a:defRPr>
            </a:pPr>
            <a:r>
              <a:rPr sz="1275" b="0">
                <a:solidFill>
                  <a:srgbClr val="66736E"/>
                </a:solidFill>
              </a:rPr>
              <a:t>소스·대소문자까지 구분</a:t>
            </a:r>
          </a:p>
          <a:p xmlns:a="http://schemas.openxmlformats.org/drawingml/2006/main">
            <a:pPr algn="l">
              <a:defRPr sz="1275" b="0">
                <a:solidFill>
                  <a:srgbClr val="66736E"/>
                </a:solidFill>
              </a:defRPr>
            </a:pPr>
            <a:r>
              <a:rPr sz="1275" b="0">
                <a:solidFill>
                  <a:srgbClr val="66736E"/>
                </a:solidFill>
              </a:rPr>
              <a:t>중복 prefix 방지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867E8B-E2F2-412B-8D24-BDE0096E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005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D4D"/>
          </a:solidFill>
          <a:ln xmlns:a="http://schemas.openxmlformats.org/drawingml/2006/main" w="0">
            <a:solidFill>
              <a:srgbClr val="C94D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6DDE99-2063-4F2F-ADEA-051F5F79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6870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31D"/>
          </a:solidFill>
          <a:ln xmlns:a="http://schemas.openxmlformats.org/drawingml/2006/main" w="9525">
            <a:solidFill>
              <a:srgbClr val="10231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E6964F-24E7-40F5-83EB-BF8C7F9D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E068"/>
                </a:solidFill>
              </a:defRPr>
            </a:pPr>
            <a:r>
              <a:rPr sz="1275" b="1">
                <a:solidFill>
                  <a:srgbClr val="B8E068"/>
                </a:solidFill>
              </a:rPr>
              <a:t>SQL 생성 전 검사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EC32E1-1358-4AB5-B589-427CD0B5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PK 중복 · 컬럼 길이 · 미매핑 ID · 스키마 문맥 · 코드데이터 누락을 먼저 표시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2888DD-86DA-48D8-B6B0-2007F209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435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AD7D1"/>
                </a:solidFill>
              </a:defRPr>
            </a:pPr>
            <a:r>
              <a:rPr sz="1050" b="0">
                <a:solidFill>
                  <a:srgbClr val="CAD7D1"/>
                </a:solidFill>
              </a:rPr>
              <a:t>조건부 적합 사유를 수정한 뒤 재검증·재생성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5ACCF4-074A-40CA-95CD-109F96D9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</a:defRPr>
            </a:pPr>
            <a:r>
              <a:rPr sz="750" b="0">
                <a:solidFill>
                  <a:srgbClr val="66736E"/>
                </a:solidFill>
              </a:rPr>
              <a:t>2025 COMPATIBILITY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6BBA09-FA9B-4C2E-8663-86031370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8652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36E"/>
                </a:solidFill>
              </a:defRPr>
            </a:pPr>
            <a:r>
              <a:rPr sz="750" b="1">
                <a:solidFill>
                  <a:srgbClr val="66736E"/>
                </a:solidFill>
              </a:rPr>
              <a:t>COMMON STANDARD BUILDER</a:t>
            </a:r>
          </a:p>
        </p:txBody>
      </p:sp>
    </p:spTree>
    <p:extLst>
      <p:ext uri="{BB962C8B-B14F-4D97-AF65-F5344CB8AC3E}">
        <p14:creationId xmlns:p14="http://schemas.microsoft.com/office/powerpoint/2010/main" val="1738189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A8FB79-E339-4616-BD38-904FD84E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1B15B-3548-49D9-846D-B67D94B6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79F49-DD32-4EA7-BEBA-106FD66C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D"/>
                </a:solidFill>
              </a:defRPr>
            </a:pPr>
            <a:r>
              <a:rPr sz="2250" b="1">
                <a:solidFill>
                  <a:srgbClr val="10231D"/>
                </a:solidFill>
              </a:rPr>
              <a:t>검토 결과와 산출물을 한 화면에서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8AF30-86E5-48E9-B797-28D085B8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</a:defRPr>
            </a:pPr>
            <a:r>
              <a:rPr sz="1125" b="0">
                <a:solidFill>
                  <a:srgbClr val="66736E"/>
                </a:solidFill>
              </a:rPr>
              <a:t>업로드 화면은 간결하게, 생성·다운로드·이력은 결과 화면에 집중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7B10F-813C-46DF-A7DC-10EA9F14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  <a:ln xmlns:a="http://schemas.openxmlformats.org/drawingml/2006/main" w="0">
            <a:solidFill>
              <a:srgbClr val="DCE5E1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f559329f742c4"/>
          <a:srcRect xmlns:a="http://schemas.openxmlformats.org/drawingml/2006/main" l="0" t="18354" r="0" b="183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09700"/>
            <a:ext cx="7524750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A6E9A-03DF-4363-8894-F185941C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3162300" cy="47625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4849C-52E5-4488-80DA-A7590876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43795-8503-42DE-8253-5E2B897E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04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PASS /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A04B3-33DE-4093-8B3E-C667E87D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7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D"/>
                </a:solidFill>
              </a:defRPr>
            </a:pPr>
            <a:r>
              <a:rPr sz="1650" b="1">
                <a:solidFill>
                  <a:srgbClr val="10231D"/>
                </a:solidFill>
              </a:rPr>
              <a:t>확인 항목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FF877-1E49-4EF3-B29F-C0150192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28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58"/>
                </a:solidFill>
              </a:defRPr>
            </a:pPr>
            <a:r>
              <a:rPr sz="1500" b="1">
                <a:solidFill>
                  <a:srgbClr val="147A5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B401A-5CEA-4745-AF96-F2ED251E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28900"/>
            <a:ext cx="2295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D"/>
                </a:solidFill>
              </a:defRPr>
            </a:pPr>
            <a:r>
              <a:rPr sz="1200" b="0">
                <a:solidFill>
                  <a:srgbClr val="10231D"/>
                </a:solidFill>
              </a:rPr>
              <a:t>검증 판정과 사유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D901A-AF8E-4E55-B6A7-BDE91B8B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58"/>
                </a:solidFill>
              </a:defRPr>
            </a:pPr>
            <a:r>
              <a:rPr sz="1500" b="1">
                <a:solidFill>
                  <a:srgbClr val="147A58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30DDA-3AB8-4A86-A424-85A5284B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62300"/>
            <a:ext cx="2295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D"/>
                </a:solidFill>
              </a:defRPr>
            </a:pPr>
            <a:r>
              <a:rPr sz="1200" b="0">
                <a:solidFill>
                  <a:srgbClr val="10231D"/>
                </a:solidFill>
              </a:rPr>
              <a:t>추출 건수·충돌 건수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40022-992B-47AD-BFB3-1A657C91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95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58"/>
                </a:solidFill>
              </a:defRPr>
            </a:pPr>
            <a:r>
              <a:rPr sz="1500" b="1">
                <a:solidFill>
                  <a:srgbClr val="147A58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60938-8FFE-49D3-A7FE-3199602A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95700"/>
            <a:ext cx="2295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D"/>
                </a:solidFill>
              </a:defRPr>
            </a:pPr>
            <a:r>
              <a:rPr sz="1200" b="0">
                <a:solidFill>
                  <a:srgbClr val="10231D"/>
                </a:solidFill>
              </a:rPr>
              <a:t>WDQ DDL 길이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D1BE5-63AB-413A-AB4D-DF22565A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29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58"/>
                </a:solidFill>
              </a:defRPr>
            </a:pPr>
            <a:r>
              <a:rPr sz="1500" b="1">
                <a:solidFill>
                  <a:srgbClr val="147A58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992AC-67CA-4784-BC11-A81C404B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229100"/>
            <a:ext cx="2295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D"/>
                </a:solidFill>
              </a:defRPr>
            </a:pPr>
            <a:r>
              <a:rPr sz="1200" b="0">
                <a:solidFill>
                  <a:srgbClr val="10231D"/>
                </a:solidFill>
              </a:rPr>
              <a:t>SQL ZIP 다운로드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54B5C-069D-4FF5-9A59-C7FFA45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58"/>
                </a:solidFill>
              </a:defRPr>
            </a:pPr>
            <a:r>
              <a:rPr sz="1500" b="1">
                <a:solidFill>
                  <a:srgbClr val="147A58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EC795-66C9-4637-AFB3-CF89D38F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762500"/>
            <a:ext cx="22955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D"/>
                </a:solidFill>
              </a:defRPr>
            </a:pPr>
            <a:r>
              <a:rPr sz="1200" b="0">
                <a:solidFill>
                  <a:srgbClr val="10231D"/>
                </a:solidFill>
              </a:rPr>
              <a:t>패치·삭제 EXE 생성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7535B-7A21-40B0-8C1D-72AF81AB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4830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0E6CF-8E86-451E-8131-E5B60136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7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수정 후 재검증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1E3FF-48D1-4BFC-BB81-F98BDCE7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</a:defRPr>
            </a:pPr>
            <a:r>
              <a:rPr sz="750" b="0">
                <a:solidFill>
                  <a:srgbClr val="66736E"/>
                </a:solidFill>
              </a:rPr>
              <a:t>VALIDATION &amp;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2B3DF-55FF-43FB-B42F-7F739A1D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8652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36E"/>
                </a:solidFill>
              </a:defRPr>
            </a:pPr>
            <a:r>
              <a:rPr sz="750" b="1">
                <a:solidFill>
                  <a:srgbClr val="66736E"/>
                </a:solidFill>
              </a:rPr>
              <a:t>COMMON STANDARD BUILDER</a:t>
            </a:r>
          </a:p>
        </p:txBody>
      </p:sp>
    </p:spTree>
    <p:extLst>
      <p:ext uri="{BB962C8B-B14F-4D97-AF65-F5344CB8AC3E}">
        <p14:creationId xmlns:p14="http://schemas.microsoft.com/office/powerpoint/2010/main" val="456730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18242F-B8D9-48F6-B5C7-E3AEC9AE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A9E65-6037-4D52-8084-0C9C96B6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6B2C4-21F7-4B6A-AC77-E755C2F5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D"/>
                </a:solidFill>
              </a:defRPr>
            </a:pPr>
            <a:r>
              <a:rPr sz="2250" b="1">
                <a:solidFill>
                  <a:srgbClr val="10231D"/>
                </a:solidFill>
              </a:rPr>
              <a:t>진단기준은 저장 후에도 계속 관리됩니다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E9B27-C1EA-4098-853E-290BC112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91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</a:defRPr>
            </a:pPr>
            <a:r>
              <a:rPr sz="1125" b="0">
                <a:solidFill>
                  <a:srgbClr val="66736E"/>
                </a:solidFill>
              </a:rPr>
              <a:t>검색·필터·일괄 수정·prefix·코드데이터 보완·재추출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FE6FC-B7D3-461B-A92D-43EFE5DD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1"/>
          </a:solidFill>
          <a:ln xmlns:a="http://schemas.openxmlformats.org/drawingml/2006/main" w="0">
            <a:solidFill>
              <a:srgbClr val="DCE5E1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c541d390544fe"/>
          <a:srcRect xmlns:a="http://schemas.openxmlformats.org/drawingml/2006/main" l="0" t="23923" r="0" b="239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385C7-EFA4-4013-A9BC-DABB6A62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3448050" cy="44767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1F980-816F-4976-9C62-D6C735A2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1450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D"/>
                </a:solidFill>
              </a:defRPr>
            </a:pPr>
            <a:r>
              <a:rPr sz="1650" b="1">
                <a:solidFill>
                  <a:srgbClr val="10231D"/>
                </a:solidFill>
              </a:rPr>
              <a:t>연결성을 유지하는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1ED48-644E-492E-B19C-4E7B2775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963E6-724A-406B-9B1D-F12EE5F1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288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E889E-BA99-42FC-B5D0-A6F77EFD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98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D"/>
                </a:solidFill>
              </a:defRPr>
            </a:pPr>
            <a:r>
              <a:rPr sz="1125" b="0">
                <a:solidFill>
                  <a:srgbClr val="10231D"/>
                </a:solidFill>
              </a:rPr>
              <a:t>업로드 파일과 원본 보관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DC48D-1342-4217-95F2-12F60B11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47C9A-C720-4D20-854D-0707EBDE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670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B89EC-5D80-4F82-9095-26622ABC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479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D"/>
                </a:solidFill>
              </a:defRPr>
            </a:pPr>
            <a:r>
              <a:rPr sz="1125" b="0">
                <a:solidFill>
                  <a:srgbClr val="10231D"/>
                </a:solidFill>
              </a:rPr>
              <a:t>유형·검색어 기준 필터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A4FB1-A1AB-4104-BA18-22EF380C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2DB9A-7AA3-4220-9D6F-44A62C5E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051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102EB-4656-43EA-AF11-5436C49F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861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D"/>
                </a:solidFill>
              </a:defRPr>
            </a:pPr>
            <a:r>
              <a:rPr sz="1125" b="0">
                <a:solidFill>
                  <a:srgbClr val="10231D"/>
                </a:solidFill>
              </a:rPr>
              <a:t>선택 항목 일괄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FA67F-BC3D-4275-83E6-DE2FD3DF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50717-35CF-4EC7-AD10-726977B3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433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23885-BB97-43B8-BC9C-A137D8DE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242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D"/>
                </a:solidFill>
              </a:defRPr>
            </a:pPr>
            <a:r>
              <a:rPr sz="1125" b="0">
                <a:solidFill>
                  <a:srgbClr val="10231D"/>
                </a:solidFill>
              </a:rPr>
              <a:t>공통 prefix 재적용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51FA9-3153-4B3E-831B-6702AF8C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529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A2D1B-D528-425A-9EE7-6CC2AD1D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81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AD532-142A-4406-BB48-B20ED1E2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624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D"/>
                </a:solidFill>
              </a:defRPr>
            </a:pPr>
            <a:r>
              <a:rPr sz="1125" b="0">
                <a:solidFill>
                  <a:srgbClr val="10231D"/>
                </a:solidFill>
              </a:rPr>
              <a:t>CC/LC 코드데이터 입력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FADFF-305A-46E2-8CD6-64FE8413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91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F974E-65D3-4570-AFD7-E83ECC0B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0768B1-EE9F-47BF-8882-858071B1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005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31D"/>
                </a:solidFill>
              </a:defRPr>
            </a:pPr>
            <a:r>
              <a:rPr sz="1125" b="0">
                <a:solidFill>
                  <a:srgbClr val="10231D"/>
                </a:solidFill>
              </a:rPr>
              <a:t>등록 엑셀 기준 재추출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068D4-EA68-4419-83CA-4FED641A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29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1D8CB5-86A4-45C7-BC56-0AFB4BC0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577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3C30FC-296C-46CE-866D-E012E446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387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D"/>
                </a:solidFill>
              </a:defRPr>
            </a:pPr>
            <a:r>
              <a:rPr sz="1125" b="1">
                <a:solidFill>
                  <a:srgbClr val="10231D"/>
                </a:solidFill>
              </a:rPr>
              <a:t>수정본으로 재검증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7B9F4-7A73-4C95-B78A-9CA30054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</a:defRPr>
            </a:pPr>
            <a:r>
              <a:rPr sz="750" b="0">
                <a:solidFill>
                  <a:srgbClr val="66736E"/>
                </a:solidFill>
              </a:rPr>
              <a:t>CRITERIA LIFECYCLE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8CD4A1-F437-4182-B87C-6847491D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8652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36E"/>
                </a:solidFill>
              </a:defRPr>
            </a:pPr>
            <a:r>
              <a:rPr sz="750" b="1">
                <a:solidFill>
                  <a:srgbClr val="66736E"/>
                </a:solidFill>
              </a:rPr>
              <a:t>COMMON STANDARD BUILDER</a:t>
            </a:r>
          </a:p>
        </p:txBody>
      </p:sp>
    </p:spTree>
    <p:extLst>
      <p:ext uri="{BB962C8B-B14F-4D97-AF65-F5344CB8AC3E}">
        <p14:creationId xmlns:p14="http://schemas.microsoft.com/office/powerpoint/2010/main" val="5610914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A4F951-B754-4FE9-8C18-2A254E9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C7B18-9BE6-44AB-810E-394AF4EC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OPERATING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94DB9-29BB-4879-A384-09FE7E8C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확정된 운영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31425-A070-42A2-9751-DD036291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D1"/>
                </a:solidFill>
              </a:defRPr>
            </a:pPr>
            <a:r>
              <a:rPr sz="1350" b="0">
                <a:solidFill>
                  <a:srgbClr val="C9D7D1"/>
                </a:solidFill>
              </a:rPr>
              <a:t>등록부터 WDQ 실행까지, 프로젝트 단위로 이력을 남깁니다.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AB117-5753-41C4-952A-1365F77F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276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8352C"/>
          </a:solidFill>
          <a:ln xmlns:a="http://schemas.openxmlformats.org/drawingml/2006/main" w="9525">
            <a:solidFill>
              <a:srgbClr val="2C4A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49DB0-1C2F-4FFF-BB02-D51CFF26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00948-3666-41BE-9629-7E9F62D2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F85FB-2C13-4925-A1E3-BB38B814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19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시스템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E09A1-33A2-438E-BD62-ABE016C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BC4"/>
                </a:solidFill>
              </a:defRPr>
            </a:pPr>
            <a:r>
              <a:rPr sz="1050" b="0">
                <a:solidFill>
                  <a:srgbClr val="B9CBC4"/>
                </a:solidFill>
              </a:rPr>
              <a:t>DBMS·스키마·채번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9E90C-1D1D-4C08-ABCA-E172A1D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3276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8352C"/>
          </a:solidFill>
          <a:ln xmlns:a="http://schemas.openxmlformats.org/drawingml/2006/main" w="9525">
            <a:solidFill>
              <a:srgbClr val="2C4A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AA9CD-BD94-4F5B-A7A7-487775E9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D5FF2-AD5D-4D42-BEF0-0CBC0665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57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73B7A-31E7-478D-AC9F-DD24E559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프로젝트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35145-648B-40B8-B028-8C1B7C9B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86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BC4"/>
                </a:solidFill>
              </a:defRPr>
            </a:pPr>
            <a:r>
              <a:rPr sz="1050" b="0">
                <a:solidFill>
                  <a:srgbClr val="B9CBC4"/>
                </a:solidFill>
              </a:rPr>
              <a:t>연도·배포월·버전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ACE67-60BF-4867-9228-8D5C0CC2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276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8352C"/>
          </a:solidFill>
          <a:ln xmlns:a="http://schemas.openxmlformats.org/drawingml/2006/main" w="9525">
            <a:solidFill>
              <a:srgbClr val="2C4A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8939D-CE14-4BC5-9A74-99E80A04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114CF-958F-47FC-8B62-F21B1B71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574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F7EF9-FB71-4AB9-82DC-228A621B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파일 업로드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4CF88-DDE5-4FD3-8F87-C247AD2B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BC4"/>
                </a:solidFill>
              </a:defRPr>
            </a:pPr>
            <a:r>
              <a:rPr sz="1050" b="0">
                <a:solidFill>
                  <a:srgbClr val="B9CBC4"/>
                </a:solidFill>
              </a:rPr>
              <a:t>결과보고서 / 진단기준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87378-9465-484F-AE1E-F48D6842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276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8352C"/>
          </a:solidFill>
          <a:ln xmlns:a="http://schemas.openxmlformats.org/drawingml/2006/main" w="9525">
            <a:solidFill>
              <a:srgbClr val="2C4A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89603-A802-4FA9-B1BB-81EBA8C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51691-ABA4-4416-8B4C-20A4748C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A1B0F-C42E-4E87-8A1A-588810DD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38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검토·보완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B0424-112C-4CC4-8CA8-B1EA2EB4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BC4"/>
                </a:solidFill>
              </a:defRPr>
            </a:pPr>
            <a:r>
              <a:rPr sz="1050" b="0">
                <a:solidFill>
                  <a:srgbClr val="B9CBC4"/>
                </a:solidFill>
              </a:rPr>
              <a:t>충돌·코드·DDL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BA5A9-22E6-4A5F-AE30-6EC57837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3276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8352C"/>
          </a:solidFill>
          <a:ln xmlns:a="http://schemas.openxmlformats.org/drawingml/2006/main" w="9525">
            <a:solidFill>
              <a:srgbClr val="2C4A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D3243-18FD-439C-A5CF-A558B28E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481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FBA71B-8898-454D-B1D9-0D52464C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76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87EF17-99D0-479A-8443-FCB788D0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38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SQL·EXE 생성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863993-9F87-43B6-828E-23F36560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05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BC4"/>
                </a:solidFill>
              </a:defRPr>
            </a:pPr>
            <a:r>
              <a:rPr sz="1050" b="0">
                <a:solidFill>
                  <a:srgbClr val="B9CBC4"/>
                </a:solidFill>
              </a:rPr>
              <a:t>WDQ 9.0·9.1·9.2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57BB3-6498-4BD4-A78D-2EF18F47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3276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7A58"/>
          </a:solidFill>
          <a:ln xmlns:a="http://schemas.openxmlformats.org/drawingml/2006/main" w="9525">
            <a:solidFill>
              <a:srgbClr val="147A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9D7972-D4FD-4A05-97BC-36FA549B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7E7C0A-30EF-4312-8526-0A8B56DD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A58"/>
                </a:solidFill>
              </a:defRPr>
            </a:pPr>
            <a:r>
              <a:rPr sz="900" b="1">
                <a:solidFill>
                  <a:srgbClr val="147A58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B7F83E-C760-4789-9AFD-8519CB4A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실행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D8F7F2-7B5E-4FAA-B94D-865377C3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5EF"/>
                </a:solidFill>
              </a:defRPr>
            </a:pPr>
            <a:r>
              <a:rPr sz="1050" b="0">
                <a:solidFill>
                  <a:srgbClr val="EAF5EF"/>
                </a:solidFill>
              </a:rPr>
              <a:t>로그·재생성 이력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F6C14C-83E9-4F5C-954C-B23DE0D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E068"/>
                </a:solidFill>
              </a:defRPr>
            </a:pPr>
            <a:r>
              <a:rPr sz="1350" b="1">
                <a:solidFill>
                  <a:srgbClr val="B8E068"/>
                </a:solidFill>
              </a:rPr>
              <a:t>다음 단계: 원격 서버 안정화 → result-review 검토 플랫폼과 검토 모듈 공유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8E06C8-F3C0-4154-A6E9-515D0A1F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3412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2A79F"/>
                </a:solidFill>
              </a:defRPr>
            </a:pPr>
            <a:r>
              <a:rPr sz="825" b="0">
                <a:solidFill>
                  <a:srgbClr val="92A79F"/>
                </a:solidFill>
              </a:rPr>
              <a:t>2026.07.27</a:t>
            </a:r>
          </a:p>
        </p:txBody>
      </p:sp>
    </p:spTree>
    <p:extLst>
      <p:ext uri="{BB962C8B-B14F-4D97-AF65-F5344CB8AC3E}">
        <p14:creationId xmlns:p14="http://schemas.microsoft.com/office/powerpoint/2010/main" val="76230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2026-07-27T07:57:28.0590000Z</dcterms:created>
  <dcterms:modified xsi:type="dcterms:W3CDTF">2026-07-27T07:57:28.0590000Z</dcterms:modified>
</coreProperties>
</file>